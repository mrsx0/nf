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A8F1EB-606F-90BB-B097-15A99C829E48}" v="17" dt="2025-10-29T16:09:48.121"/>
    <p1510:client id="{FCB00DDF-46AC-9E20-4F51-D40A5B0FE241}" v="4" dt="2025-10-30T07:20:24.5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843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83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906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677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625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344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64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739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3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1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902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93970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0382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39807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520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785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424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641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2" y="514350"/>
            <a:ext cx="6554867" cy="1524000"/>
          </a:xfrm>
        </p:spPr>
        <p:txBody>
          <a:bodyPr>
            <a:normAutofit/>
          </a:bodyPr>
          <a:lstStyle/>
          <a:p>
            <a:pPr algn="ctr"/>
            <a:r>
              <a:rPr lang="en-US"/>
              <a:t>UAI - </a:t>
            </a:r>
            <a:r>
              <a:rPr err="1"/>
              <a:t>Inteligência</a:t>
            </a:r>
            <a:r>
              <a:t> Fiscal </a:t>
            </a:r>
            <a:r>
              <a:rPr err="1"/>
              <a:t>Automatizada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4333874"/>
            <a:ext cx="6554867" cy="1524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Integrantes</a:t>
            </a:r>
            <a:r>
              <a:rPr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: </a:t>
            </a:r>
            <a:endParaRPr lang="en-US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Emerson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Chiesse</a:t>
            </a:r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Juliana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Santos</a:t>
            </a:r>
          </a:p>
          <a:p>
            <a:pPr marL="0" indent="0">
              <a:buNone/>
            </a:pPr>
            <a:r>
              <a:rPr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João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Baia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0"/>
            <a:ext cx="6554867" cy="1524000"/>
          </a:xfrm>
        </p:spPr>
        <p:txBody>
          <a:bodyPr/>
          <a:lstStyle/>
          <a:p>
            <a:r>
              <a:t>O </a:t>
            </a:r>
            <a:r>
              <a:rPr err="1"/>
              <a:t>Problema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237" y="1176337"/>
            <a:ext cx="7946345" cy="37676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 err="1"/>
              <a:t>Empresas</a:t>
            </a:r>
            <a:r>
              <a:rPr dirty="0"/>
              <a:t> </a:t>
            </a:r>
            <a:r>
              <a:rPr lang="en-US" dirty="0" err="1"/>
              <a:t>brasileiras</a:t>
            </a:r>
            <a:r>
              <a:rPr lang="en-US" dirty="0"/>
              <a:t> </a:t>
            </a:r>
            <a:r>
              <a:rPr lang="en-US" dirty="0" err="1"/>
              <a:t>perdem</a:t>
            </a:r>
            <a:r>
              <a:rPr dirty="0"/>
              <a:t> </a:t>
            </a:r>
            <a:r>
              <a:rPr dirty="0" err="1"/>
              <a:t>milhões</a:t>
            </a:r>
            <a:r>
              <a:rPr dirty="0"/>
              <a:t> </a:t>
            </a:r>
            <a:r>
              <a:rPr lang="en-US" dirty="0"/>
              <a:t>de R$ </a:t>
            </a:r>
            <a:r>
              <a:rPr dirty="0" err="1"/>
              <a:t>por</a:t>
            </a:r>
            <a:r>
              <a:rPr dirty="0"/>
              <a:t>:</a:t>
            </a:r>
          </a:p>
          <a:p>
            <a:pPr>
              <a:buFont typeface="Arial" panose="05040102010807070707" pitchFamily="18" charset="2"/>
              <a:buChar char="•"/>
            </a:pPr>
            <a:r>
              <a:rPr err="1"/>
              <a:t>Cálculo</a:t>
            </a:r>
            <a:r>
              <a:rPr dirty="0"/>
              <a:t> </a:t>
            </a:r>
            <a:r>
              <a:rPr err="1"/>
              <a:t>incorreto</a:t>
            </a:r>
            <a:r>
              <a:t> de </a:t>
            </a:r>
            <a:r>
              <a:rPr err="1"/>
              <a:t>impostos</a:t>
            </a:r>
            <a:endParaRPr/>
          </a:p>
          <a:p>
            <a:pPr>
              <a:buFont typeface="Arial" panose="05040102010807070707" pitchFamily="18" charset="2"/>
              <a:buChar char="•"/>
            </a:pPr>
            <a:r>
              <a:t>Erros </a:t>
            </a:r>
            <a:r>
              <a:rPr err="1"/>
              <a:t>em</a:t>
            </a:r>
            <a:r>
              <a:rPr dirty="0"/>
              <a:t> </a:t>
            </a:r>
            <a:r>
              <a:rPr err="1"/>
              <a:t>classificações</a:t>
            </a:r>
            <a:r>
              <a:rPr dirty="0"/>
              <a:t> </a:t>
            </a:r>
            <a:r>
              <a:rPr err="1"/>
              <a:t>fiscais</a:t>
            </a:r>
            <a:r>
              <a:t> (CST, CFOP, etc.)</a:t>
            </a:r>
          </a:p>
          <a:p>
            <a:pPr>
              <a:buFont typeface="Arial" panose="05040102010807070707" pitchFamily="18" charset="2"/>
              <a:buChar char="•"/>
            </a:pPr>
            <a:r>
              <a:t>Divergência entre documentos fiscais e comerciais</a:t>
            </a:r>
            <a:endParaRPr lang="pt-BR"/>
          </a:p>
          <a:p>
            <a:pPr>
              <a:buClr>
                <a:srgbClr val="FFFFFF"/>
              </a:buClr>
              <a:buFont typeface="Arial" panose="05040102010807070707" pitchFamily="18" charset="2"/>
              <a:buChar char="•"/>
            </a:pPr>
            <a:endParaRPr lang="pt-BR"/>
          </a:p>
          <a:p>
            <a:pPr>
              <a:buFont typeface="Arial" panose="05040102010807070707" pitchFamily="18" charset="2"/>
              <a:buChar char="•"/>
            </a:pPr>
            <a:endParaRPr lang="pt-BR"/>
          </a:p>
          <a:p>
            <a:pPr marL="0" indent="0">
              <a:buNone/>
            </a:pPr>
            <a:endParaRPr lang="en-US">
              <a:solidFill>
                <a:srgbClr val="0F496F"/>
              </a:solidFill>
            </a:endParaRPr>
          </a:p>
          <a:p>
            <a:pPr marL="0" indent="0">
              <a:buNone/>
            </a:pPr>
            <a:r>
              <a:rPr b="1" dirty="0" err="1">
                <a:solidFill>
                  <a:schemeClr val="tx1">
                    <a:lumMod val="95000"/>
                  </a:schemeClr>
                </a:solidFill>
              </a:rPr>
              <a:t>Resultado</a:t>
            </a:r>
            <a:r>
              <a:rPr b="1" dirty="0">
                <a:solidFill>
                  <a:schemeClr val="tx1">
                    <a:lumMod val="95000"/>
                  </a:schemeClr>
                </a:solidFill>
              </a:rPr>
              <a:t>: </a:t>
            </a:r>
            <a:r>
              <a:rPr b="1" dirty="0" err="1">
                <a:solidFill>
                  <a:schemeClr val="tx1">
                    <a:lumMod val="95000"/>
                  </a:schemeClr>
                </a:solidFill>
              </a:rPr>
              <a:t>aproveitamento</a:t>
            </a:r>
            <a:r>
              <a:rPr b="1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b="1" dirty="0" err="1">
                <a:solidFill>
                  <a:schemeClr val="tx1">
                    <a:lumMod val="95000"/>
                  </a:schemeClr>
                </a:solidFill>
              </a:rPr>
              <a:t>ineficiente</a:t>
            </a:r>
            <a:r>
              <a:rPr b="1" dirty="0">
                <a:solidFill>
                  <a:schemeClr val="tx1">
                    <a:lumMod val="95000"/>
                  </a:schemeClr>
                </a:solidFill>
              </a:rPr>
              <a:t> de </a:t>
            </a:r>
            <a:r>
              <a:rPr b="1" dirty="0" err="1">
                <a:solidFill>
                  <a:schemeClr val="tx1">
                    <a:lumMod val="95000"/>
                  </a:schemeClr>
                </a:solidFill>
              </a:rPr>
              <a:t>créditos</a:t>
            </a:r>
            <a:r>
              <a:rPr b="1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b="1" dirty="0" err="1">
                <a:solidFill>
                  <a:schemeClr val="tx1">
                    <a:lumMod val="95000"/>
                  </a:schemeClr>
                </a:solidFill>
              </a:rPr>
              <a:t>tributários</a:t>
            </a:r>
            <a:endParaRPr b="1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6554867" cy="1524000"/>
          </a:xfrm>
        </p:spPr>
        <p:txBody>
          <a:bodyPr/>
          <a:lstStyle/>
          <a:p>
            <a:r>
              <a:t>A </a:t>
            </a:r>
            <a:r>
              <a:rPr err="1"/>
              <a:t>Solução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13415"/>
            <a:ext cx="7570867" cy="37994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Usar </a:t>
            </a:r>
            <a:r>
              <a:rPr lang="en-US" dirty="0" err="1"/>
              <a:t>Agentes</a:t>
            </a:r>
            <a:r>
              <a:rPr dirty="0"/>
              <a:t> </a:t>
            </a:r>
            <a:r>
              <a:rPr lang="en-US" dirty="0" err="1"/>
              <a:t>Inteligentes</a:t>
            </a:r>
            <a:r>
              <a:rPr lang="en-US" dirty="0"/>
              <a:t> e LLMs </a:t>
            </a:r>
            <a:r>
              <a:rPr dirty="0"/>
              <a:t>para:</a:t>
            </a:r>
          </a:p>
          <a:p>
            <a:pPr>
              <a:buFont typeface="Arial" panose="05040102010807070707" pitchFamily="18" charset="2"/>
              <a:buChar char="•"/>
            </a:pPr>
            <a:r>
              <a:rPr dirty="0"/>
              <a:t>Validar e </a:t>
            </a:r>
            <a:r>
              <a:rPr err="1"/>
              <a:t>auditar</a:t>
            </a:r>
            <a:r>
              <a:rPr dirty="0"/>
              <a:t> dados </a:t>
            </a:r>
            <a:r>
              <a:rPr err="1"/>
              <a:t>fiscais</a:t>
            </a:r>
            <a:endParaRPr/>
          </a:p>
          <a:p>
            <a:pPr>
              <a:buFont typeface="Arial" panose="05040102010807070707" pitchFamily="18" charset="2"/>
              <a:buChar char="•"/>
            </a:pPr>
            <a:r>
              <a:rPr err="1"/>
              <a:t>Detectar</a:t>
            </a:r>
            <a:r>
              <a:rPr dirty="0"/>
              <a:t> </a:t>
            </a:r>
            <a:r>
              <a:rPr err="1"/>
              <a:t>inconsistências</a:t>
            </a:r>
            <a:endParaRPr/>
          </a:p>
          <a:p>
            <a:pPr>
              <a:buFont typeface="Arial" panose="05040102010807070707" pitchFamily="18" charset="2"/>
              <a:buChar char="•"/>
            </a:pPr>
            <a:r>
              <a:rPr err="1"/>
              <a:t>Sugerir</a:t>
            </a:r>
            <a:r>
              <a:rPr dirty="0"/>
              <a:t> </a:t>
            </a:r>
            <a:r>
              <a:rPr err="1"/>
              <a:t>correções</a:t>
            </a:r>
            <a:endParaRPr/>
          </a:p>
          <a:p>
            <a:pPr>
              <a:buFont typeface="Arial" panose="05040102010807070707" pitchFamily="18" charset="2"/>
              <a:buChar char="•"/>
            </a:pPr>
            <a:r>
              <a:rPr dirty="0"/>
              <a:t>Gerar relatórios e insights</a:t>
            </a:r>
            <a:endParaRPr lang="pt-BR" dirty="0"/>
          </a:p>
          <a:p>
            <a:pPr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err="1"/>
              <a:t>Interpretar</a:t>
            </a:r>
            <a:r>
              <a:rPr lang="en-US" dirty="0"/>
              <a:t> e auxiliar </a:t>
            </a:r>
            <a:r>
              <a:rPr lang="en-US" err="1"/>
              <a:t>em</a:t>
            </a:r>
            <a:r>
              <a:rPr lang="en-US" dirty="0"/>
              <a:t> </a:t>
            </a:r>
            <a:r>
              <a:rPr lang="en-US" err="1"/>
              <a:t>tomada</a:t>
            </a:r>
            <a:r>
              <a:rPr lang="en-US" dirty="0"/>
              <a:t> de </a:t>
            </a:r>
            <a:r>
              <a:rPr lang="en-US" err="1"/>
              <a:t>decisões</a:t>
            </a:r>
            <a:endParaRPr err="1"/>
          </a:p>
          <a:p>
            <a:pPr>
              <a:buFont typeface="Arial" panose="05040102010807070707" pitchFamily="18" charset="2"/>
              <a:buChar char="•"/>
            </a:pPr>
            <a:endParaRPr lang="en-US">
              <a:solidFill>
                <a:srgbClr val="0F496F"/>
              </a:solidFill>
            </a:endParaRPr>
          </a:p>
          <a:p>
            <a:pPr marL="0" indent="0">
              <a:buNone/>
            </a:pPr>
            <a:r>
              <a:rPr b="1" dirty="0">
                <a:solidFill>
                  <a:schemeClr val="tx1">
                    <a:lumMod val="95000"/>
                  </a:schemeClr>
                </a:solidFill>
              </a:rPr>
              <a:t>Foco: </a:t>
            </a:r>
            <a:r>
              <a:rPr b="1" dirty="0" err="1">
                <a:solidFill>
                  <a:schemeClr val="tx1">
                    <a:lumMod val="95000"/>
                  </a:schemeClr>
                </a:solidFill>
              </a:rPr>
              <a:t>conformidade</a:t>
            </a:r>
            <a:r>
              <a:rPr b="1" dirty="0">
                <a:solidFill>
                  <a:schemeClr val="tx1">
                    <a:lumMod val="95000"/>
                  </a:schemeClr>
                </a:solidFill>
              </a:rPr>
              <a:t>, </a:t>
            </a:r>
            <a:r>
              <a:rPr b="1" dirty="0" err="1">
                <a:solidFill>
                  <a:schemeClr val="tx1">
                    <a:lumMod val="95000"/>
                  </a:schemeClr>
                </a:solidFill>
              </a:rPr>
              <a:t>economia</a:t>
            </a:r>
            <a:r>
              <a:rPr b="1" dirty="0">
                <a:solidFill>
                  <a:schemeClr val="tx1">
                    <a:lumMod val="95000"/>
                  </a:schemeClr>
                </a:solidFill>
              </a:rPr>
              <a:t> e </a:t>
            </a:r>
            <a:r>
              <a:rPr b="1" dirty="0" err="1">
                <a:solidFill>
                  <a:schemeClr val="tx1">
                    <a:lumMod val="95000"/>
                  </a:schemeClr>
                </a:solidFill>
              </a:rPr>
              <a:t>segurança</a:t>
            </a:r>
            <a:r>
              <a:rPr b="1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b="1" dirty="0" err="1">
                <a:solidFill>
                  <a:schemeClr val="tx1">
                    <a:lumMod val="95000"/>
                  </a:schemeClr>
                </a:solidFill>
              </a:rPr>
              <a:t>jurídica</a:t>
            </a:r>
            <a:endParaRPr b="1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109537"/>
            <a:ext cx="6554867" cy="1524000"/>
          </a:xfrm>
        </p:spPr>
        <p:txBody>
          <a:bodyPr/>
          <a:lstStyle/>
          <a:p>
            <a:r>
              <a:t>Como </a:t>
            </a:r>
            <a:r>
              <a:rPr err="1"/>
              <a:t>Funciona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45165"/>
            <a:ext cx="7528533" cy="3767670"/>
          </a:xfrm>
        </p:spPr>
        <p:txBody>
          <a:bodyPr/>
          <a:lstStyle/>
          <a:p>
            <a:pPr marL="0" indent="0">
              <a:buNone/>
            </a:pPr>
            <a:r>
              <a:rPr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1. Coleta </a:t>
            </a:r>
            <a:r>
              <a:rPr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automática</a:t>
            </a:r>
            <a:r>
              <a:rPr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de dados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entre </a:t>
            </a:r>
            <a:r>
              <a:rPr lang="en-US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sistemas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legados</a:t>
            </a:r>
            <a:endParaRPr dirty="0" err="1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2. </a:t>
            </a:r>
            <a:r>
              <a:rPr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Validação</a:t>
            </a:r>
            <a:r>
              <a:rPr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com </a:t>
            </a:r>
            <a:r>
              <a:rPr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regras</a:t>
            </a:r>
            <a:r>
              <a:rPr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fiscais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 </a:t>
            </a:r>
            <a:r>
              <a:rPr lang="en-US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atualizadas</a:t>
            </a:r>
            <a:endParaRPr dirty="0" err="1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3. </a:t>
            </a:r>
            <a:r>
              <a:rPr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Sugestões</a:t>
            </a:r>
            <a:r>
              <a:rPr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de </a:t>
            </a:r>
            <a:r>
              <a:rPr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correção</a:t>
            </a:r>
            <a:endParaRPr lang="en-US" dirty="0" err="1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4. </a:t>
            </a:r>
            <a:r>
              <a:rPr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Relatórios</a:t>
            </a:r>
            <a:r>
              <a:rPr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inteligentes</a:t>
            </a:r>
            <a:endParaRPr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5. </a:t>
            </a:r>
            <a:r>
              <a:rPr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Comunicação</a:t>
            </a:r>
            <a:r>
              <a:rPr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com </a:t>
            </a:r>
            <a:r>
              <a:rPr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responsáveis</a:t>
            </a:r>
            <a:endParaRPr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712" y="23812"/>
            <a:ext cx="6554867" cy="1524000"/>
          </a:xfrm>
        </p:spPr>
        <p:txBody>
          <a:bodyPr/>
          <a:lstStyle/>
          <a:p>
            <a:r>
              <a:rPr err="1"/>
              <a:t>Público-Alvo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1" y="1576387"/>
            <a:ext cx="4338638" cy="2529420"/>
          </a:xfrm>
        </p:spPr>
        <p:txBody>
          <a:bodyPr>
            <a:noAutofit/>
          </a:bodyPr>
          <a:lstStyle/>
          <a:p>
            <a:pPr>
              <a:buFont typeface="Wingdings" panose="05040102010807070707" pitchFamily="18" charset="2"/>
              <a:buChar char="Ø"/>
            </a:pPr>
            <a:r>
              <a:rPr sz="2400">
                <a:solidFill>
                  <a:schemeClr val="tx2">
                    <a:lumMod val="20000"/>
                    <a:lumOff val="80000"/>
                  </a:schemeClr>
                </a:solidFill>
              </a:rPr>
              <a:t>Grandes </a:t>
            </a:r>
            <a:r>
              <a:rPr sz="2400" err="1">
                <a:solidFill>
                  <a:schemeClr val="tx2">
                    <a:lumMod val="20000"/>
                    <a:lumOff val="80000"/>
                  </a:schemeClr>
                </a:solidFill>
              </a:rPr>
              <a:t>empresas</a:t>
            </a:r>
            <a:r>
              <a:rPr sz="2400">
                <a:solidFill>
                  <a:schemeClr val="tx2">
                    <a:lumMod val="20000"/>
                    <a:lumOff val="80000"/>
                  </a:schemeClr>
                </a:solidFill>
              </a:rPr>
              <a:t> com alto volume de </a:t>
            </a:r>
            <a:r>
              <a:rPr sz="2400" err="1">
                <a:solidFill>
                  <a:schemeClr val="tx2">
                    <a:lumMod val="20000"/>
                    <a:lumOff val="80000"/>
                  </a:schemeClr>
                </a:solidFill>
              </a:rPr>
              <a:t>transações</a:t>
            </a:r>
            <a:r>
              <a:rPr sz="2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sz="2400" err="1">
                <a:solidFill>
                  <a:schemeClr val="tx2">
                    <a:lumMod val="20000"/>
                    <a:lumOff val="80000"/>
                  </a:schemeClr>
                </a:solidFill>
              </a:rPr>
              <a:t>fiscais</a:t>
            </a:r>
            <a:endParaRPr lang="pt-BR" sz="240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>
              <a:buFont typeface="Wingdings" panose="05040102010807070707" pitchFamily="18" charset="2"/>
              <a:buChar char="Ø"/>
            </a:pPr>
            <a:endParaRPr lang="pt-BR" sz="240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>
              <a:buFont typeface="Wingdings" panose="05040102010807070707" pitchFamily="18" charset="2"/>
              <a:buChar char="Ø"/>
            </a:pPr>
            <a:r>
              <a:rPr sz="2400" err="1">
                <a:solidFill>
                  <a:schemeClr val="tx2">
                    <a:lumMod val="20000"/>
                    <a:lumOff val="80000"/>
                  </a:schemeClr>
                </a:solidFill>
              </a:rPr>
              <a:t>Departamentos</a:t>
            </a:r>
            <a:r>
              <a:rPr sz="2400">
                <a:solidFill>
                  <a:schemeClr val="tx2">
                    <a:lumMod val="20000"/>
                    <a:lumOff val="80000"/>
                  </a:schemeClr>
                </a:solidFill>
              </a:rPr>
              <a:t> fiscal, </a:t>
            </a:r>
            <a:r>
              <a:rPr sz="2400" err="1">
                <a:solidFill>
                  <a:schemeClr val="tx2">
                    <a:lumMod val="20000"/>
                    <a:lumOff val="80000"/>
                  </a:schemeClr>
                </a:solidFill>
              </a:rPr>
              <a:t>contábil</a:t>
            </a:r>
            <a:r>
              <a:rPr sz="2400">
                <a:solidFill>
                  <a:schemeClr val="tx2">
                    <a:lumMod val="20000"/>
                    <a:lumOff val="80000"/>
                  </a:schemeClr>
                </a:solidFill>
              </a:rPr>
              <a:t> e auditoria</a:t>
            </a:r>
          </a:p>
        </p:txBody>
      </p:sp>
      <p:pic>
        <p:nvPicPr>
          <p:cNvPr id="1026" name="Picture 2" descr="Imagem gerada">
            <a:extLst>
              <a:ext uri="{FF2B5EF4-FFF2-40B4-BE49-F238E27FC236}">
                <a16:creationId xmlns:a16="http://schemas.microsoft.com/office/drawing/2014/main" id="{BF869A86-F09B-436C-90B6-68F49A282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2039" y="862278"/>
            <a:ext cx="3957637" cy="395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09538"/>
            <a:ext cx="6554867" cy="1524000"/>
          </a:xfrm>
        </p:spPr>
        <p:txBody>
          <a:bodyPr/>
          <a:lstStyle/>
          <a:p>
            <a:r>
              <a:rPr err="1"/>
              <a:t>Benefícios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525" y="1545165"/>
            <a:ext cx="8023321" cy="3767670"/>
          </a:xfrm>
        </p:spPr>
        <p:txBody>
          <a:bodyPr/>
          <a:lstStyle/>
          <a:p>
            <a:pPr>
              <a:buFont typeface="Courier New" panose="05040102010807070707" pitchFamily="18" charset="2"/>
              <a:buChar char="o"/>
            </a:pPr>
            <a:r>
              <a:rPr err="1"/>
              <a:t>Aumento</a:t>
            </a:r>
            <a:r>
              <a:t> no </a:t>
            </a:r>
            <a:r>
              <a:rPr err="1"/>
              <a:t>aproveitamento</a:t>
            </a:r>
            <a:r>
              <a:t> de </a:t>
            </a:r>
            <a:r>
              <a:rPr err="1"/>
              <a:t>crédito</a:t>
            </a:r>
            <a:r>
              <a:rPr dirty="0"/>
              <a:t> </a:t>
            </a:r>
            <a:r>
              <a:rPr err="1"/>
              <a:t>tributário</a:t>
            </a:r>
            <a:endParaRPr lang="en-US"/>
          </a:p>
          <a:p>
            <a:pPr>
              <a:buFont typeface="Courier New" panose="05040102010807070707" pitchFamily="18" charset="2"/>
              <a:buChar char="o"/>
            </a:pPr>
            <a:r>
              <a:rPr dirty="0"/>
              <a:t> </a:t>
            </a:r>
            <a:r>
              <a:rPr err="1"/>
              <a:t>Redução</a:t>
            </a:r>
            <a:r>
              <a:t> de </a:t>
            </a:r>
            <a:r>
              <a:rPr err="1"/>
              <a:t>riscos</a:t>
            </a:r>
            <a:r>
              <a:t> e </a:t>
            </a:r>
            <a:r>
              <a:rPr err="1"/>
              <a:t>passivos</a:t>
            </a:r>
            <a:r>
              <a:rPr dirty="0"/>
              <a:t> </a:t>
            </a:r>
            <a:r>
              <a:rPr err="1"/>
              <a:t>fiscais</a:t>
            </a:r>
            <a:endParaRPr/>
          </a:p>
          <a:p>
            <a:pPr>
              <a:buFont typeface="Courier New" panose="05040102010807070707" pitchFamily="18" charset="2"/>
              <a:buChar char="o"/>
            </a:pPr>
            <a:r>
              <a:rPr err="1"/>
              <a:t>Automatização</a:t>
            </a:r>
            <a:r>
              <a:t> de </a:t>
            </a:r>
            <a:r>
              <a:rPr err="1"/>
              <a:t>tarefas</a:t>
            </a:r>
            <a:r>
              <a:rPr dirty="0"/>
              <a:t> </a:t>
            </a:r>
            <a:r>
              <a:rPr err="1"/>
              <a:t>repetitivas</a:t>
            </a:r>
            <a:endParaRPr/>
          </a:p>
          <a:p>
            <a:pPr>
              <a:buFont typeface="Courier New" panose="05040102010807070707" pitchFamily="18" charset="2"/>
              <a:buChar char="o"/>
            </a:pPr>
            <a:r>
              <a:rPr err="1"/>
              <a:t>Decisões</a:t>
            </a:r>
            <a:r>
              <a:rPr dirty="0"/>
              <a:t> </a:t>
            </a:r>
            <a:r>
              <a:rPr err="1"/>
              <a:t>mais</a:t>
            </a:r>
            <a:r>
              <a:rPr dirty="0"/>
              <a:t> </a:t>
            </a:r>
            <a:r>
              <a:rPr err="1"/>
              <a:t>rápidas</a:t>
            </a:r>
            <a:r>
              <a:t> e </a:t>
            </a:r>
            <a:r>
              <a:rPr err="1"/>
              <a:t>assertivas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09537"/>
            <a:ext cx="6554867" cy="1524000"/>
          </a:xfrm>
        </p:spPr>
        <p:txBody>
          <a:bodyPr/>
          <a:lstStyle/>
          <a:p>
            <a:r>
              <a:rPr err="1"/>
              <a:t>Tecnologia</a:t>
            </a:r>
            <a:r>
              <a:t> e </a:t>
            </a:r>
            <a:r>
              <a:rPr err="1"/>
              <a:t>Componentes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1833562"/>
            <a:ext cx="7412117" cy="3767670"/>
          </a:xfrm>
        </p:spPr>
        <p:txBody>
          <a:bodyPr/>
          <a:lstStyle/>
          <a:p>
            <a:pPr marL="0" indent="0">
              <a:buNone/>
            </a:pPr>
            <a:r>
              <a:rPr dirty="0" err="1"/>
              <a:t>Módulos</a:t>
            </a:r>
            <a:r>
              <a:rPr dirty="0"/>
              <a:t>:</a:t>
            </a:r>
          </a:p>
          <a:p>
            <a:pPr>
              <a:buFont typeface="Courier New" panose="05040102010807070707" pitchFamily="18" charset="2"/>
              <a:buChar char="o"/>
            </a:pPr>
            <a:r>
              <a:rPr err="1"/>
              <a:t>Integração</a:t>
            </a:r>
            <a:r>
              <a:rPr dirty="0"/>
              <a:t> ERP (SAP, TOTVS, Oracle)</a:t>
            </a:r>
            <a:r>
              <a:rPr lang="en-US"/>
              <a:t> via API</a:t>
            </a:r>
            <a:endParaRPr dirty="0"/>
          </a:p>
          <a:p>
            <a:pPr>
              <a:buFont typeface="Courier New" panose="05040102010807070707" pitchFamily="18" charset="2"/>
              <a:buChar char="o"/>
            </a:pPr>
            <a:r>
              <a:rPr dirty="0"/>
              <a:t>Motor de </a:t>
            </a:r>
            <a:r>
              <a:rPr dirty="0" err="1"/>
              <a:t>validação</a:t>
            </a:r>
            <a:r>
              <a:rPr dirty="0"/>
              <a:t> </a:t>
            </a:r>
            <a:r>
              <a:rPr dirty="0" err="1"/>
              <a:t>tributária</a:t>
            </a:r>
            <a:r>
              <a:rPr lang="en-US" dirty="0"/>
              <a:t> </a:t>
            </a:r>
            <a:r>
              <a:rPr lang="en-US" dirty="0" err="1"/>
              <a:t>usando</a:t>
            </a:r>
            <a:r>
              <a:rPr lang="en-US" dirty="0"/>
              <a:t> LLM e </a:t>
            </a:r>
            <a:r>
              <a:rPr lang="en-US" dirty="0" err="1"/>
              <a:t>langchain</a:t>
            </a:r>
            <a:endParaRPr dirty="0" err="1"/>
          </a:p>
          <a:p>
            <a:pPr>
              <a:buFont typeface="Courier New" panose="05040102010807070707" pitchFamily="18" charset="2"/>
              <a:buChar char="o"/>
            </a:pPr>
            <a:r>
              <a:rPr lang="pt-BR" dirty="0"/>
              <a:t>Relatórios</a:t>
            </a:r>
            <a:r>
              <a:rPr dirty="0"/>
              <a:t> </a:t>
            </a:r>
            <a:r>
              <a:rPr dirty="0" err="1"/>
              <a:t>interativo</a:t>
            </a:r>
            <a:r>
              <a:rPr lang="pt-BR" dirty="0"/>
              <a:t>s customizáveis com IA Generativas</a:t>
            </a:r>
          </a:p>
          <a:p>
            <a:pPr>
              <a:buClr>
                <a:srgbClr val="FFFFFF"/>
              </a:buClr>
              <a:buFont typeface="Courier New" panose="05040102010807070707" pitchFamily="18" charset="2"/>
              <a:buChar char="o"/>
            </a:pPr>
            <a:r>
              <a:rPr dirty="0" err="1"/>
              <a:t>Agentes</a:t>
            </a:r>
            <a:r>
              <a:rPr dirty="0"/>
              <a:t> </a:t>
            </a:r>
            <a:r>
              <a:rPr dirty="0" err="1"/>
              <a:t>inteligentes</a:t>
            </a:r>
            <a:r>
              <a:rPr dirty="0"/>
              <a:t> com ML </a:t>
            </a:r>
            <a:r>
              <a:rPr dirty="0" err="1"/>
              <a:t>leve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1913"/>
            <a:ext cx="9144000" cy="1524000"/>
          </a:xfrm>
        </p:spPr>
        <p:txBody>
          <a:bodyPr/>
          <a:lstStyle/>
          <a:p>
            <a:pPr algn="ctr"/>
            <a:r>
              <a:rPr err="1"/>
              <a:t>Fases</a:t>
            </a:r>
            <a:r>
              <a:t> do </a:t>
            </a:r>
            <a:r>
              <a:rPr err="1"/>
              <a:t>Projeto</a:t>
            </a:r>
            <a:endParaRPr/>
          </a:p>
        </p:txBody>
      </p:sp>
      <p:pic>
        <p:nvPicPr>
          <p:cNvPr id="2050" name="Picture 2" descr="Imagem gerada">
            <a:extLst>
              <a:ext uri="{FF2B5EF4-FFF2-40B4-BE49-F238E27FC236}">
                <a16:creationId xmlns:a16="http://schemas.microsoft.com/office/drawing/2014/main" id="{4F5A0E0D-C0B5-4445-9636-0C1B87A15B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834" y="1233487"/>
            <a:ext cx="3549649" cy="532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3812"/>
            <a:ext cx="6554867" cy="1524000"/>
          </a:xfrm>
        </p:spPr>
        <p:txBody>
          <a:bodyPr/>
          <a:lstStyle/>
          <a:p>
            <a:r>
              <a:rPr err="1"/>
              <a:t>Diferenciais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33550"/>
            <a:ext cx="6554867" cy="3767670"/>
          </a:xfrm>
        </p:spPr>
        <p:txBody>
          <a:bodyPr/>
          <a:lstStyle/>
          <a:p>
            <a:pPr>
              <a:buFont typeface="Arial" panose="05040102010807070707" pitchFamily="18" charset="2"/>
              <a:buChar char="•"/>
            </a:pPr>
            <a:r>
              <a:rPr err="1"/>
              <a:t>Atualização</a:t>
            </a:r>
            <a:r>
              <a:rPr dirty="0"/>
              <a:t> </a:t>
            </a:r>
            <a:r>
              <a:rPr err="1"/>
              <a:t>contínua</a:t>
            </a:r>
            <a:r>
              <a:rPr dirty="0"/>
              <a:t> com </a:t>
            </a:r>
            <a:r>
              <a:rPr err="1"/>
              <a:t>legislação</a:t>
            </a:r>
            <a:r>
              <a:rPr dirty="0"/>
              <a:t> fiscal</a:t>
            </a:r>
            <a:endParaRPr lang="en-US"/>
          </a:p>
          <a:p>
            <a:pPr>
              <a:buFont typeface="Arial" panose="05040102010807070707" pitchFamily="18" charset="2"/>
              <a:buChar char="•"/>
            </a:pPr>
            <a:r>
              <a:rPr err="1"/>
              <a:t>Detecção</a:t>
            </a:r>
            <a:r>
              <a:rPr dirty="0"/>
              <a:t> </a:t>
            </a:r>
            <a:r>
              <a:rPr err="1"/>
              <a:t>preditiva</a:t>
            </a:r>
            <a:r>
              <a:rPr dirty="0"/>
              <a:t> de </a:t>
            </a:r>
            <a:r>
              <a:rPr err="1"/>
              <a:t>anomalias</a:t>
            </a:r>
            <a:endParaRPr/>
          </a:p>
          <a:p>
            <a:pPr>
              <a:buFont typeface="Arial" panose="05040102010807070707" pitchFamily="18" charset="2"/>
              <a:buChar char="•"/>
            </a:pPr>
            <a:r>
              <a:rPr err="1"/>
              <a:t>Integração</a:t>
            </a:r>
            <a:r>
              <a:rPr dirty="0"/>
              <a:t> com </a:t>
            </a:r>
            <a:r>
              <a:rPr err="1"/>
              <a:t>sistemas</a:t>
            </a:r>
            <a:r>
              <a:rPr dirty="0"/>
              <a:t> </a:t>
            </a:r>
            <a:r>
              <a:rPr err="1"/>
              <a:t>corporativos</a:t>
            </a:r>
            <a:endParaRPr/>
          </a:p>
          <a:p>
            <a:pPr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err="1"/>
              <a:t>Customização</a:t>
            </a:r>
            <a:r>
              <a:rPr lang="en-US" dirty="0"/>
              <a:t> de interfaces e </a:t>
            </a:r>
            <a:r>
              <a:rPr lang="en-US" err="1"/>
              <a:t>relatórios</a:t>
            </a:r>
            <a:endParaRPr lang="en-US"/>
          </a:p>
          <a:p>
            <a:pPr>
              <a:buFont typeface="Arial" panose="05040102010807070707" pitchFamily="18" charset="2"/>
              <a:buChar char="•"/>
            </a:pPr>
            <a:r>
              <a:rPr err="1"/>
              <a:t>Comunicação</a:t>
            </a:r>
            <a:r>
              <a:rPr dirty="0"/>
              <a:t> </a:t>
            </a:r>
            <a:r>
              <a:rPr err="1"/>
              <a:t>automatizada</a:t>
            </a:r>
            <a:r>
              <a:rPr dirty="0"/>
              <a:t> via e-mail/chatbot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lumMod val="75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Imagem gerada">
            <a:extLst>
              <a:ext uri="{FF2B5EF4-FFF2-40B4-BE49-F238E27FC236}">
                <a16:creationId xmlns:a16="http://schemas.microsoft.com/office/drawing/2014/main" id="{DA35B60A-CE17-4420-B021-52CB2C50022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528638"/>
            <a:ext cx="4572000" cy="6015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Application>Microsoft Office PowerPoint</Application>
  <PresentationFormat>On-screen Show (4:3)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Fatia</vt:lpstr>
      <vt:lpstr>UAI - Inteligência Fiscal Automatizada</vt:lpstr>
      <vt:lpstr>O Problema</vt:lpstr>
      <vt:lpstr>A Solução</vt:lpstr>
      <vt:lpstr>Como Funciona</vt:lpstr>
      <vt:lpstr>Público-Alvo</vt:lpstr>
      <vt:lpstr>Benefícios</vt:lpstr>
      <vt:lpstr>Tecnologia e Componentes</vt:lpstr>
      <vt:lpstr>Fases do Projeto</vt:lpstr>
      <vt:lpstr>Diferenciais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uAI – Inteligência Fiscal Automatizada</dc:title>
  <dc:subject/>
  <dc:creator/>
  <cp:keywords/>
  <dc:description>generated using python-pptx</dc:description>
  <cp:revision>57</cp:revision>
  <dcterms:created xsi:type="dcterms:W3CDTF">2013-01-27T09:14:16Z</dcterms:created>
  <dcterms:modified xsi:type="dcterms:W3CDTF">2025-11-02T22:27:32Z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04e66f5-a0a7-4964-8f54-8b1b1c05ade1_Enabled">
    <vt:lpwstr>true</vt:lpwstr>
  </property>
  <property fmtid="{D5CDD505-2E9C-101B-9397-08002B2CF9AE}" pid="3" name="MSIP_Label_f04e66f5-a0a7-4964-8f54-8b1b1c05ade1_SetDate">
    <vt:lpwstr>2025-06-11T02:35:35Z</vt:lpwstr>
  </property>
  <property fmtid="{D5CDD505-2E9C-101B-9397-08002B2CF9AE}" pid="4" name="MSIP_Label_f04e66f5-a0a7-4964-8f54-8b1b1c05ade1_Method">
    <vt:lpwstr>Privileged</vt:lpwstr>
  </property>
  <property fmtid="{D5CDD505-2E9C-101B-9397-08002B2CF9AE}" pid="5" name="MSIP_Label_f04e66f5-a0a7-4964-8f54-8b1b1c05ade1_Name">
    <vt:lpwstr>Restrito - Apresentações</vt:lpwstr>
  </property>
  <property fmtid="{D5CDD505-2E9C-101B-9397-08002B2CF9AE}" pid="6" name="MSIP_Label_f04e66f5-a0a7-4964-8f54-8b1b1c05ade1_SiteId">
    <vt:lpwstr>b8fd2a17-277e-4917-b79f-eff898370dcb</vt:lpwstr>
  </property>
  <property fmtid="{D5CDD505-2E9C-101B-9397-08002B2CF9AE}" pid="7" name="MSIP_Label_f04e66f5-a0a7-4964-8f54-8b1b1c05ade1_ActionId">
    <vt:lpwstr>7ca54a18-f701-406a-9b8b-1ad1eeff8461</vt:lpwstr>
  </property>
  <property fmtid="{D5CDD505-2E9C-101B-9397-08002B2CF9AE}" pid="8" name="MSIP_Label_f04e66f5-a0a7-4964-8f54-8b1b1c05ade1_ContentBits">
    <vt:lpwstr>0</vt:lpwstr>
  </property>
  <property fmtid="{D5CDD505-2E9C-101B-9397-08002B2CF9AE}" pid="9" name="MSIP_Label_f04e66f5-a0a7-4964-8f54-8b1b1c05ade1_Tag">
    <vt:lpwstr>10, 0, 1, 2</vt:lpwstr>
  </property>
</Properties>
</file>